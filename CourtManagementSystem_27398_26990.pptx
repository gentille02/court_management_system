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6645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79938"/>
            <a:ext cx="9144000" cy="297180"/>
          </a:xfrm>
          <a:prstGeom prst="rect">
            <a:avLst/>
          </a:prstGeom>
          <a:solidFill>
            <a:srgbClr val="16205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9436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6459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Management System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94360" y="245355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Project Presentation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799" y="2854677"/>
            <a:ext cx="8229599" cy="707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Uwizeye Gentille 27398</a:t>
            </a:r>
          </a:p>
          <a:p>
            <a:pPr marL="0" indent="0">
              <a:buNone/>
            </a:pPr>
            <a:r>
              <a:rPr lang="en-US" sz="1600" i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Cirhulwire Kalembu Viviane 26990</a:t>
            </a:r>
            <a:endParaRPr lang="en-US" sz="1600" dirty="0"/>
          </a:p>
          <a:p>
            <a:pPr marL="0" indent="0">
              <a:buNone/>
            </a:pPr>
            <a:endParaRPr lang="en-US" sz="1400" i="1" dirty="0">
              <a:solidFill>
                <a:srgbClr val="F0C04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85800" y="3892251"/>
            <a:ext cx="5486400" cy="3657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4138467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Web Technologies &amp; Internet 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85799" y="4462272"/>
            <a:ext cx="8229600" cy="201168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7" name="Text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Management 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31920" cy="3840480"/>
          </a:xfrm>
          <a:prstGeom prst="rect">
            <a:avLst/>
          </a:prstGeom>
          <a:solidFill>
            <a:srgbClr val="FFF3F3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393192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Problems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56616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Clients must visit court physically just to check a case status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Paper files get lost, damaged, or misfiled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Manual scheduling causes hearing conflicts and delays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place for Judges to access case documents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— changes go untracked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Lost or misfiled physical case documents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0" y="880782"/>
            <a:ext cx="4297680" cy="384048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914400"/>
            <a:ext cx="4297680" cy="36576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9144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54880" y="1371600"/>
            <a:ext cx="393192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Book online — Choose a service &amp; book from anywhere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Upload digitally — No paper, no lost documents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Track in real-time — Status updates instantly on your dashboard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Judge reviews online — All files in one place, any device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controls everything — Approve, reject, reschedule, complete — no paperwork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Auto-notifications — Client is alerted on every status change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— Everyone sees only what they're allowed to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Digital case records with search &amp; filter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0" y="4697058"/>
            <a:ext cx="9144000" cy="4800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Human-Centered Mindset: Solving real pain points for real users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– 3 User Roles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the system and what they do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26502"/>
            <a:ext cx="278892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2788920" cy="438912"/>
          </a:xfrm>
          <a:prstGeom prst="rect">
            <a:avLst/>
          </a:prstGeom>
          <a:solidFill>
            <a:srgbClr val="0D7C66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03327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05156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7512" y="96012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93192" y="1472184"/>
            <a:ext cx="2532888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court services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an appointment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case documents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appointment status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notifications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46120" y="960120"/>
            <a:ext cx="278892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960120"/>
            <a:ext cx="2788920" cy="438912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4" name="Shape 11"/>
          <p:cNvSpPr/>
          <p:nvPr/>
        </p:nvSpPr>
        <p:spPr>
          <a:xfrm>
            <a:off x="3337560" y="103327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051560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85032" y="96012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3410712" y="1472184"/>
            <a:ext cx="2532888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client files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 appointments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assigned cases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notes/remarks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hearing status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263640" y="960120"/>
            <a:ext cx="278892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63640" y="960120"/>
            <a:ext cx="2788920" cy="43891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Shape 16"/>
          <p:cNvSpPr/>
          <p:nvPr/>
        </p:nvSpPr>
        <p:spPr>
          <a:xfrm>
            <a:off x="6355080" y="103327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051560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02552" y="96012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428232" y="1472184"/>
            <a:ext cx="2532888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appointments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appointments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 appointments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appointments complete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all client files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 &amp; services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205A"/>
          </a:solidFill>
          <a:ln/>
        </p:spPr>
      </p:sp>
      <p:sp>
        <p:nvSpPr>
          <p:cNvPr id="25" name="Text 2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Administrator handles all back-office responsibilities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Client sees and can do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4114800" cy="411480"/>
          </a:xfrm>
          <a:prstGeom prst="rect">
            <a:avLst/>
          </a:prstGeom>
          <a:solidFill>
            <a:srgbClr val="0D7C6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0584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96012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Offered by the Court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47472" y="146304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Case Filing (Civil / Criminal)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Document Submission &amp; Certification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Mediation &amp; Dispute Resolution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Hearing Appointment Booking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Case Status Inquiry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Court Order / Certificate Request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Legal Aid Application</a:t>
            </a:r>
          </a:p>
          <a:p>
            <a:pPr marL="0" indent="0">
              <a:spcAft>
                <a:spcPts val="600"/>
              </a:spcAft>
              <a:buNone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📄  Others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663440" y="960120"/>
            <a:ext cx="42062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960120"/>
            <a:ext cx="4206240" cy="411480"/>
          </a:xfrm>
          <a:prstGeom prst="rect">
            <a:avLst/>
          </a:prstGeom>
          <a:solidFill>
            <a:srgbClr val="0D7C6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0584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93208" y="960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Actions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736592" y="1463040"/>
            <a:ext cx="329184" cy="329184"/>
          </a:xfrm>
          <a:prstGeom prst="ellipse">
            <a:avLst/>
          </a:prstGeom>
          <a:solidFill>
            <a:srgbClr val="0D7C66"/>
          </a:solidFill>
          <a:ln/>
        </p:spPr>
      </p:sp>
      <p:sp>
        <p:nvSpPr>
          <p:cNvPr id="16" name="Text 12"/>
          <p:cNvSpPr/>
          <p:nvPr/>
        </p:nvSpPr>
        <p:spPr>
          <a:xfrm>
            <a:off x="4736592" y="1463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138928" y="14813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court service from the list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736592" y="2084832"/>
            <a:ext cx="329184" cy="329184"/>
          </a:xfrm>
          <a:prstGeom prst="ellipse">
            <a:avLst/>
          </a:prstGeom>
          <a:solidFill>
            <a:srgbClr val="0D7C66"/>
          </a:solidFill>
          <a:ln/>
        </p:spPr>
      </p:sp>
      <p:sp>
        <p:nvSpPr>
          <p:cNvPr id="19" name="Text 15"/>
          <p:cNvSpPr/>
          <p:nvPr/>
        </p:nvSpPr>
        <p:spPr>
          <a:xfrm>
            <a:off x="4736592" y="2084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138928" y="21031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 available date &amp; book appointment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736592" y="2706624"/>
            <a:ext cx="329184" cy="329184"/>
          </a:xfrm>
          <a:prstGeom prst="ellipse">
            <a:avLst/>
          </a:prstGeom>
          <a:solidFill>
            <a:srgbClr val="0D7C66"/>
          </a:solidFill>
          <a:ln/>
        </p:spPr>
      </p:sp>
      <p:sp>
        <p:nvSpPr>
          <p:cNvPr id="22" name="Text 18"/>
          <p:cNvSpPr/>
          <p:nvPr/>
        </p:nvSpPr>
        <p:spPr>
          <a:xfrm>
            <a:off x="4736592" y="2706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138928" y="27249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required documents (PDF / images)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736592" y="3328416"/>
            <a:ext cx="329184" cy="329184"/>
          </a:xfrm>
          <a:prstGeom prst="ellipse">
            <a:avLst/>
          </a:prstGeom>
          <a:solidFill>
            <a:srgbClr val="0D7C66"/>
          </a:solidFill>
          <a:ln/>
        </p:spPr>
      </p:sp>
      <p:sp>
        <p:nvSpPr>
          <p:cNvPr id="25" name="Text 21"/>
          <p:cNvSpPr/>
          <p:nvPr/>
        </p:nvSpPr>
        <p:spPr>
          <a:xfrm>
            <a:off x="4736592" y="33284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138928" y="33467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appointment status: Pending / Approved / Rejected / Rescheduled / Completed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736592" y="3950208"/>
            <a:ext cx="329184" cy="329184"/>
          </a:xfrm>
          <a:prstGeom prst="ellipse">
            <a:avLst/>
          </a:prstGeom>
          <a:solidFill>
            <a:srgbClr val="0D7C66"/>
          </a:solidFill>
          <a:ln/>
        </p:spPr>
      </p:sp>
      <p:sp>
        <p:nvSpPr>
          <p:cNvPr id="28" name="Text 24"/>
          <p:cNvSpPr/>
          <p:nvPr/>
        </p:nvSpPr>
        <p:spPr>
          <a:xfrm>
            <a:off x="4736592" y="39502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138928" y="396849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notification when status changes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205A"/>
          </a:solidFill>
          <a:ln/>
        </p:spPr>
      </p:sp>
      <p:sp>
        <p:nvSpPr>
          <p:cNvPr id="31" name="Text 2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can BROWSE services → BOOK → UPLOAD files → TRACK status — all from one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Judge sees and can do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4206240" cy="411480"/>
          </a:xfrm>
          <a:prstGeom prst="rect">
            <a:avLst/>
          </a:prstGeom>
          <a:solidFill>
            <a:srgbClr val="7B2D8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0584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960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Client Files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1444752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can open any case assigned to them and review all uploaded documents submitted by the client. Files are displayed in a structured viewer with support for PDF preview.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960120"/>
            <a:ext cx="420624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960120"/>
            <a:ext cx="4206240" cy="411480"/>
          </a:xfrm>
          <a:prstGeom prst="rect">
            <a:avLst/>
          </a:prstGeom>
          <a:solidFill>
            <a:srgbClr val="7B2D8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0584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0640" y="960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 Appointments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846320" y="1444752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selects a client appointment and proposes a new date/time. The system notifies the client automatically. The Judge can add a reason note for the reschedule.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28600" y="3246120"/>
            <a:ext cx="8686800" cy="1325880"/>
          </a:xfrm>
          <a:prstGeom prst="rect">
            <a:avLst/>
          </a:prstGeom>
          <a:solidFill>
            <a:srgbClr val="EEE8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28600" y="3246120"/>
            <a:ext cx="8686800" cy="347472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8" name="Text 14"/>
          <p:cNvSpPr/>
          <p:nvPr/>
        </p:nvSpPr>
        <p:spPr>
          <a:xfrm>
            <a:off x="365760" y="3246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Workflow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65760" y="3675888"/>
            <a:ext cx="1325880" cy="68580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20" name="Text 16"/>
          <p:cNvSpPr/>
          <p:nvPr/>
        </p:nvSpPr>
        <p:spPr>
          <a:xfrm>
            <a:off x="365760" y="3675888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1691640" y="4014216"/>
            <a:ext cx="109728" cy="0"/>
          </a:xfrm>
          <a:prstGeom prst="line">
            <a:avLst/>
          </a:prstGeom>
          <a:noFill/>
          <a:ln w="25400">
            <a:solidFill>
              <a:srgbClr val="7B2D8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801368" y="3675888"/>
            <a:ext cx="1325880" cy="68580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23" name="Text 19"/>
          <p:cNvSpPr/>
          <p:nvPr/>
        </p:nvSpPr>
        <p:spPr>
          <a:xfrm>
            <a:off x="1801368" y="3675888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Assigned Cases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127248" y="4014216"/>
            <a:ext cx="109728" cy="0"/>
          </a:xfrm>
          <a:prstGeom prst="line">
            <a:avLst/>
          </a:prstGeom>
          <a:noFill/>
          <a:ln w="25400">
            <a:solidFill>
              <a:srgbClr val="7B2D8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236976" y="3675888"/>
            <a:ext cx="1325880" cy="68580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26" name="Text 22"/>
          <p:cNvSpPr/>
          <p:nvPr/>
        </p:nvSpPr>
        <p:spPr>
          <a:xfrm>
            <a:off x="3236976" y="3675888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Case File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562856" y="4014216"/>
            <a:ext cx="109728" cy="0"/>
          </a:xfrm>
          <a:prstGeom prst="line">
            <a:avLst/>
          </a:prstGeom>
          <a:noFill/>
          <a:ln w="25400">
            <a:solidFill>
              <a:srgbClr val="7B2D8B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672584" y="3675888"/>
            <a:ext cx="1325880" cy="68580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29" name="Text 25"/>
          <p:cNvSpPr/>
          <p:nvPr/>
        </p:nvSpPr>
        <p:spPr>
          <a:xfrm>
            <a:off x="4672584" y="3675888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Documents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5998464" y="4014216"/>
            <a:ext cx="109728" cy="0"/>
          </a:xfrm>
          <a:prstGeom prst="line">
            <a:avLst/>
          </a:prstGeom>
          <a:noFill/>
          <a:ln w="25400">
            <a:solidFill>
              <a:srgbClr val="7B2D8B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108192" y="3675888"/>
            <a:ext cx="1325880" cy="68580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2" name="Text 28"/>
          <p:cNvSpPr/>
          <p:nvPr/>
        </p:nvSpPr>
        <p:spPr>
          <a:xfrm>
            <a:off x="6108192" y="3675888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Proceed or Reschedule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7434072" y="4014216"/>
            <a:ext cx="109728" cy="0"/>
          </a:xfrm>
          <a:prstGeom prst="line">
            <a:avLst/>
          </a:prstGeom>
          <a:noFill/>
          <a:ln w="25400">
            <a:solidFill>
              <a:srgbClr val="7B2D8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7543800" y="3675888"/>
            <a:ext cx="1325880" cy="68580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5" name="Text 31"/>
          <p:cNvSpPr/>
          <p:nvPr/>
        </p:nvSpPr>
        <p:spPr>
          <a:xfrm>
            <a:off x="7543800" y="3675888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Remarks &amp; Save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205A"/>
          </a:solidFill>
          <a:ln/>
        </p:spPr>
      </p:sp>
      <p:sp>
        <p:nvSpPr>
          <p:cNvPr id="37" name="Text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is NOT responsible for approving/rejecting appointments — that belongs to the Administrator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all appointments &amp; files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73152" cy="1600200"/>
          </a:xfrm>
          <a:prstGeom prst="rect">
            <a:avLst/>
          </a:prstGeom>
          <a:solidFill>
            <a:srgbClr val="1A7A4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4300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698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15544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reviews a pending appointment and approves it. The Client is notified. The appointment is forwarded to the assigned Judge.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90872" y="960120"/>
            <a:ext cx="42062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90872" y="960120"/>
            <a:ext cx="73152" cy="16002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14300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85232" y="10698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828032" y="15544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appointment is invalid or incomplete, the Admin rejects it with a reason. Client is notified and can re-submit.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228600" y="2697480"/>
            <a:ext cx="42062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28600" y="2697480"/>
            <a:ext cx="73152" cy="1600200"/>
          </a:xfrm>
          <a:prstGeom prst="rect">
            <a:avLst/>
          </a:prstGeom>
          <a:solidFill>
            <a:srgbClr val="D4820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88036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" y="28072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65760" y="32918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move an appointment to a different date/time and notify both the Client and the Judge of the change.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690872" y="2697480"/>
            <a:ext cx="42062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90872" y="2697480"/>
            <a:ext cx="73152" cy="160020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2880360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85232" y="28072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Complete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828032" y="32918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hearing is done, the Admin marks it as Completed, closing the appointment lifecycle.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228600" y="4480560"/>
            <a:ext cx="8686800" cy="594360"/>
          </a:xfrm>
          <a:prstGeom prst="rect">
            <a:avLst/>
          </a:prstGeom>
          <a:solidFill>
            <a:srgbClr val="1E2761"/>
          </a:solidFill>
          <a:ln/>
          <a:effectLst>
            <a:outerShdw blurRad="63500" dist="25400" dir="162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452628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68680" y="44805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All Client Files: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can open and inspect documents submitted by any client across all cases — full read access.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Lifecycle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flow from booking to completion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82296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148840"/>
            <a:ext cx="411480" cy="411480"/>
          </a:xfrm>
          <a:prstGeom prst="ellipse">
            <a:avLst/>
          </a:prstGeom>
          <a:solidFill>
            <a:srgbClr val="D4820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1463040" cy="658368"/>
          </a:xfrm>
          <a:prstGeom prst="rect">
            <a:avLst/>
          </a:prstGeom>
          <a:solidFill>
            <a:srgbClr val="D4820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37160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47088" y="2350008"/>
            <a:ext cx="1828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65176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51760"/>
            <a:ext cx="1554480" cy="73152"/>
          </a:xfrm>
          <a:prstGeom prst="rect">
            <a:avLst/>
          </a:prstGeom>
          <a:solidFill>
            <a:srgbClr val="D4820A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788920"/>
            <a:ext cx="1417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books → awaiting Admin review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32888" y="2148840"/>
            <a:ext cx="411480" cy="411480"/>
          </a:xfrm>
          <a:prstGeom prst="ellipse">
            <a:avLst/>
          </a:prstGeom>
          <a:solidFill>
            <a:srgbClr val="1A7A4A"/>
          </a:solidFill>
          <a:ln/>
        </p:spPr>
      </p:sp>
      <p:sp>
        <p:nvSpPr>
          <p:cNvPr id="16" name="Text 14"/>
          <p:cNvSpPr/>
          <p:nvPr/>
        </p:nvSpPr>
        <p:spPr>
          <a:xfrm>
            <a:off x="2532888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29968" y="1371600"/>
            <a:ext cx="1463040" cy="65836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8" name="Text 16"/>
          <p:cNvSpPr/>
          <p:nvPr/>
        </p:nvSpPr>
        <p:spPr>
          <a:xfrm>
            <a:off x="2029968" y="137160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11296" y="2350008"/>
            <a:ext cx="1828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29968" y="265176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29968" y="2651760"/>
            <a:ext cx="1554480" cy="73152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2" name="Text 20"/>
          <p:cNvSpPr/>
          <p:nvPr/>
        </p:nvSpPr>
        <p:spPr>
          <a:xfrm>
            <a:off x="2103120" y="2788920"/>
            <a:ext cx="1417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 → assigned to Judge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97096" y="214884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4197096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94176" y="1371600"/>
            <a:ext cx="1463040" cy="6583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3694176" y="137160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75504" y="2350008"/>
            <a:ext cx="1828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94176" y="265176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94176" y="2651760"/>
            <a:ext cx="155448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3767328" y="2788920"/>
            <a:ext cx="1417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rejects → Client notified with reason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61304" y="2148840"/>
            <a:ext cx="411480" cy="411480"/>
          </a:xfrm>
          <a:prstGeom prst="ellipse">
            <a:avLst/>
          </a:prstGeom>
          <a:solidFill>
            <a:srgbClr val="7B2D8B"/>
          </a:solidFill>
          <a:ln/>
        </p:spPr>
      </p:sp>
      <p:sp>
        <p:nvSpPr>
          <p:cNvPr id="32" name="Text 30"/>
          <p:cNvSpPr/>
          <p:nvPr/>
        </p:nvSpPr>
        <p:spPr>
          <a:xfrm>
            <a:off x="5861304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358384" y="1371600"/>
            <a:ext cx="1463040" cy="658368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4" name="Text 32"/>
          <p:cNvSpPr/>
          <p:nvPr/>
        </p:nvSpPr>
        <p:spPr>
          <a:xfrm>
            <a:off x="5358384" y="137160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39712" y="2350008"/>
            <a:ext cx="1828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58384" y="265176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358384" y="2651760"/>
            <a:ext cx="1554480" cy="73152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8" name="Text 36"/>
          <p:cNvSpPr/>
          <p:nvPr/>
        </p:nvSpPr>
        <p:spPr>
          <a:xfrm>
            <a:off x="5431536" y="2788920"/>
            <a:ext cx="1417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or Judge sets new date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525512" y="21488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7525512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022592" y="1371600"/>
            <a:ext cx="146304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/>
          <p:nvPr/>
        </p:nvSpPr>
        <p:spPr>
          <a:xfrm>
            <a:off x="7022592" y="137160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022592" y="265176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022592" y="2651760"/>
            <a:ext cx="155448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7095744" y="2788920"/>
            <a:ext cx="1417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marks done → case closed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28600" y="4160520"/>
            <a:ext cx="8686800" cy="4114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1605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Books  •  </a:t>
            </a: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Approves / Rejects / Reschedules / Completes  •  </a:t>
            </a:r>
            <a:r>
              <a:rPr lang="en-US" sz="12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Reviews Files / Reschedules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205A"/>
          </a:solidFill>
          <a:ln/>
        </p:spPr>
      </p:sp>
      <p:sp>
        <p:nvSpPr>
          <p:cNvPr id="49" name="Text 4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change triggers a notification to the Client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– All 3 Roles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interaction flow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" y="896112"/>
            <a:ext cx="1188720" cy="1188720"/>
          </a:xfrm>
          <a:prstGeom prst="rect">
            <a:avLst/>
          </a:prstGeom>
          <a:solidFill>
            <a:srgbClr val="0D7C6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" y="896112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63040" y="1124712"/>
            <a:ext cx="14173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63040" y="1124712"/>
            <a:ext cx="1417320" cy="73152"/>
          </a:xfrm>
          <a:prstGeom prst="rect">
            <a:avLst/>
          </a:prstGeom>
          <a:solidFill>
            <a:srgbClr val="0D7C66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197864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80360" y="1490472"/>
            <a:ext cx="118872" cy="0"/>
          </a:xfrm>
          <a:prstGeom prst="line">
            <a:avLst/>
          </a:prstGeom>
          <a:noFill/>
          <a:ln w="25400">
            <a:solidFill>
              <a:srgbClr val="0D7C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9232" y="1124712"/>
            <a:ext cx="14173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99232" y="1124712"/>
            <a:ext cx="1417320" cy="73152"/>
          </a:xfrm>
          <a:prstGeom prst="rect">
            <a:avLst/>
          </a:prstGeom>
          <a:solidFill>
            <a:srgbClr val="0D7C66"/>
          </a:solidFill>
          <a:ln/>
        </p:spPr>
      </p:sp>
      <p:sp>
        <p:nvSpPr>
          <p:cNvPr id="14" name="Text 12"/>
          <p:cNvSpPr/>
          <p:nvPr/>
        </p:nvSpPr>
        <p:spPr>
          <a:xfrm>
            <a:off x="2999232" y="1197864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Service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16552" y="1490472"/>
            <a:ext cx="118872" cy="0"/>
          </a:xfrm>
          <a:prstGeom prst="line">
            <a:avLst/>
          </a:prstGeom>
          <a:noFill/>
          <a:ln w="25400">
            <a:solidFill>
              <a:srgbClr val="0D7C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35424" y="1124712"/>
            <a:ext cx="14173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35424" y="1124712"/>
            <a:ext cx="1417320" cy="73152"/>
          </a:xfrm>
          <a:prstGeom prst="rect">
            <a:avLst/>
          </a:prstGeom>
          <a:solidFill>
            <a:srgbClr val="0D7C66"/>
          </a:solidFill>
          <a:ln/>
        </p:spPr>
      </p:sp>
      <p:sp>
        <p:nvSpPr>
          <p:cNvPr id="18" name="Text 16"/>
          <p:cNvSpPr/>
          <p:nvPr/>
        </p:nvSpPr>
        <p:spPr>
          <a:xfrm>
            <a:off x="4535424" y="1197864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52744" y="1490472"/>
            <a:ext cx="118872" cy="0"/>
          </a:xfrm>
          <a:prstGeom prst="line">
            <a:avLst/>
          </a:prstGeom>
          <a:noFill/>
          <a:ln w="25400">
            <a:solidFill>
              <a:srgbClr val="0D7C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71616" y="1124712"/>
            <a:ext cx="14173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71616" y="1124712"/>
            <a:ext cx="1417320" cy="73152"/>
          </a:xfrm>
          <a:prstGeom prst="rect">
            <a:avLst/>
          </a:prstGeom>
          <a:solidFill>
            <a:srgbClr val="0D7C66"/>
          </a:solidFill>
          <a:ln/>
        </p:spPr>
      </p:sp>
      <p:sp>
        <p:nvSpPr>
          <p:cNvPr id="22" name="Text 20"/>
          <p:cNvSpPr/>
          <p:nvPr/>
        </p:nvSpPr>
        <p:spPr>
          <a:xfrm>
            <a:off x="6071616" y="1197864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Documents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88936" y="1490472"/>
            <a:ext cx="118872" cy="0"/>
          </a:xfrm>
          <a:prstGeom prst="line">
            <a:avLst/>
          </a:prstGeom>
          <a:noFill/>
          <a:ln w="25400">
            <a:solidFill>
              <a:srgbClr val="0D7C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07808" y="1124712"/>
            <a:ext cx="14173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07808" y="1124712"/>
            <a:ext cx="1417320" cy="73152"/>
          </a:xfrm>
          <a:prstGeom prst="rect">
            <a:avLst/>
          </a:prstGeom>
          <a:solidFill>
            <a:srgbClr val="0D7C66"/>
          </a:solidFill>
          <a:ln/>
        </p:spPr>
      </p:sp>
      <p:sp>
        <p:nvSpPr>
          <p:cNvPr id="26" name="Text 24"/>
          <p:cNvSpPr/>
          <p:nvPr/>
        </p:nvSpPr>
        <p:spPr>
          <a:xfrm>
            <a:off x="7607808" y="1197864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Status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" y="2267712"/>
            <a:ext cx="1188720" cy="1188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" y="2267712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463040" y="2496312"/>
            <a:ext cx="14173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463040" y="2496312"/>
            <a:ext cx="141732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1463040" y="2569464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880360" y="2862072"/>
            <a:ext cx="118872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99232" y="2496312"/>
            <a:ext cx="14173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999232" y="2496312"/>
            <a:ext cx="141732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2999232" y="2569464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Booking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16552" y="2862072"/>
            <a:ext cx="118872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35424" y="2496312"/>
            <a:ext cx="14173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35424" y="2496312"/>
            <a:ext cx="141732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4535424" y="2569464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/ Reschedule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52744" y="2862072"/>
            <a:ext cx="118872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71616" y="2496312"/>
            <a:ext cx="14173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71616" y="2496312"/>
            <a:ext cx="141732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3" name="Text 41"/>
          <p:cNvSpPr/>
          <p:nvPr/>
        </p:nvSpPr>
        <p:spPr>
          <a:xfrm>
            <a:off x="6071616" y="2569464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Files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488936" y="2862072"/>
            <a:ext cx="118872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07808" y="2496312"/>
            <a:ext cx="14173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607808" y="2496312"/>
            <a:ext cx="141732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7" name="Text 45"/>
          <p:cNvSpPr/>
          <p:nvPr/>
        </p:nvSpPr>
        <p:spPr>
          <a:xfrm>
            <a:off x="7607808" y="2569464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Complete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1440" y="3639312"/>
            <a:ext cx="1188720" cy="118872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49" name="Text 47"/>
          <p:cNvSpPr/>
          <p:nvPr/>
        </p:nvSpPr>
        <p:spPr>
          <a:xfrm>
            <a:off x="91440" y="3639312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463040" y="3867912"/>
            <a:ext cx="14173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463040" y="3867912"/>
            <a:ext cx="1417320" cy="73152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52" name="Text 50"/>
          <p:cNvSpPr/>
          <p:nvPr/>
        </p:nvSpPr>
        <p:spPr>
          <a:xfrm>
            <a:off x="1463040" y="3941064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880360" y="4233672"/>
            <a:ext cx="118872" cy="0"/>
          </a:xfrm>
          <a:prstGeom prst="line">
            <a:avLst/>
          </a:prstGeom>
          <a:noFill/>
          <a:ln w="25400">
            <a:solidFill>
              <a:srgbClr val="7B2D8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999232" y="3867912"/>
            <a:ext cx="14173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2999232" y="3867912"/>
            <a:ext cx="1417320" cy="73152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56" name="Text 54"/>
          <p:cNvSpPr/>
          <p:nvPr/>
        </p:nvSpPr>
        <p:spPr>
          <a:xfrm>
            <a:off x="2999232" y="3941064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Assigned Cases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416552" y="4233672"/>
            <a:ext cx="118872" cy="0"/>
          </a:xfrm>
          <a:prstGeom prst="line">
            <a:avLst/>
          </a:prstGeom>
          <a:noFill/>
          <a:ln w="25400">
            <a:solidFill>
              <a:srgbClr val="7B2D8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35424" y="3867912"/>
            <a:ext cx="14173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535424" y="3867912"/>
            <a:ext cx="1417320" cy="73152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60" name="Text 58"/>
          <p:cNvSpPr/>
          <p:nvPr/>
        </p:nvSpPr>
        <p:spPr>
          <a:xfrm>
            <a:off x="4535424" y="3941064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Client Files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952744" y="4233672"/>
            <a:ext cx="118872" cy="0"/>
          </a:xfrm>
          <a:prstGeom prst="line">
            <a:avLst/>
          </a:prstGeom>
          <a:noFill/>
          <a:ln w="25400">
            <a:solidFill>
              <a:srgbClr val="7B2D8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071616" y="3867912"/>
            <a:ext cx="14173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071616" y="3867912"/>
            <a:ext cx="1417320" cy="73152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64" name="Text 62"/>
          <p:cNvSpPr/>
          <p:nvPr/>
        </p:nvSpPr>
        <p:spPr>
          <a:xfrm>
            <a:off x="6071616" y="3941064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 if Needed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488936" y="4233672"/>
            <a:ext cx="118872" cy="0"/>
          </a:xfrm>
          <a:prstGeom prst="line">
            <a:avLst/>
          </a:prstGeom>
          <a:noFill/>
          <a:ln w="25400">
            <a:solidFill>
              <a:srgbClr val="7B2D8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607808" y="3867912"/>
            <a:ext cx="14173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7607808" y="3867912"/>
            <a:ext cx="1417320" cy="73152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68" name="Text 66"/>
          <p:cNvSpPr/>
          <p:nvPr/>
        </p:nvSpPr>
        <p:spPr>
          <a:xfrm>
            <a:off x="7607808" y="3941064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Remarks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205A"/>
          </a:solidFill>
          <a:ln/>
        </p:spPr>
      </p:sp>
      <p:sp>
        <p:nvSpPr>
          <p:cNvPr id="70" name="Text 6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User Flow drives the feature list for development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Design 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+ WCAG 2.1 AA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4114800" cy="41148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0584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– Threat Modeling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01752" y="1481328"/>
            <a:ext cx="731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48132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Breach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17190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RBAC enforced per route — Client cannot access Admin/Judge views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01752" y="2093976"/>
            <a:ext cx="731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09397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Attack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2331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Vue escapes by default; DOMPurify on any v-html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01752" y="2706624"/>
            <a:ext cx="731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270662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Auth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29443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JWT with short expiry; stored in HttpOnly cookies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01752" y="3319272"/>
            <a:ext cx="731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331927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Risk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35570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Server-side MIME type validation; size limits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01752" y="3931920"/>
            <a:ext cx="73152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393192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Exposure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57200" y="41696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HTTPS only; secrets in .env, never in git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663440" y="960120"/>
            <a:ext cx="42519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63440" y="960120"/>
            <a:ext cx="4251960" cy="411480"/>
          </a:xfrm>
          <a:prstGeom prst="rect">
            <a:avLst/>
          </a:prstGeom>
          <a:solidFill>
            <a:srgbClr val="0D7C66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05840"/>
            <a:ext cx="292608" cy="29260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093208" y="960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&amp; WCAG 2.1 AA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4800600" y="1463040"/>
            <a:ext cx="397764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mobile &amp; web (Tailwind breakpoints)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color themes (teal / purple / red)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navigation + keyboard-first interaction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HTML: &lt;nav&gt; &lt;main&gt; &lt;article&gt; &lt;button&gt;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4.5:1 color contrast ratio (text vs background)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inputs have &lt;label&gt; + aria-describedby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Decorative icons: aria-hidden="true"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[tab] navigation — Obey WCAG 3.0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20172" y="4663440"/>
            <a:ext cx="9144000" cy="480060"/>
          </a:xfrm>
          <a:prstGeom prst="rect">
            <a:avLst/>
          </a:prstGeom>
          <a:solidFill>
            <a:srgbClr val="16205A"/>
          </a:solidFill>
          <a:ln/>
        </p:spPr>
      </p:sp>
      <p:sp>
        <p:nvSpPr>
          <p:cNvPr id="31" name="Text 2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Human-Centered Mindset: each role gets a tailored, accessible, role-aware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411480" cy="5070348"/>
          </a:xfrm>
          <a:prstGeom prst="rect">
            <a:avLst/>
          </a:prstGeom>
          <a:solidFill>
            <a:srgbClr val="16205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48637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nd of Presentation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86968" y="1446903"/>
            <a:ext cx="7319773" cy="151064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/>
        </p:spPr>
      </p:sp>
      <p:sp>
        <p:nvSpPr>
          <p:cNvPr id="8" name="Text 6"/>
          <p:cNvSpPr/>
          <p:nvPr/>
        </p:nvSpPr>
        <p:spPr>
          <a:xfrm>
            <a:off x="2825630" y="1942428"/>
            <a:ext cx="3442447" cy="473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T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cs typeface="Calibri" pitchFamily="34" charset="-120"/>
              </a:rPr>
              <a:t>hank You Guys For Attention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6928" y="26609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66928" y="37398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25880" y="3639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205A"/>
          </a:solidFill>
          <a:ln/>
        </p:spPr>
      </p:sp>
      <p:sp>
        <p:nvSpPr>
          <p:cNvPr id="22" name="Text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6B7BA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Court Management System  •  2026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913</Words>
  <Application>Microsoft Office PowerPoint</Application>
  <PresentationFormat>On-screen Show (16:9)</PresentationFormat>
  <Paragraphs>170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Court Management System – Revised Role Design</dc:title>
  <dc:subject>PptxGenJS Presentation</dc:subject>
  <dc:creator>PptxGenJS</dc:creator>
  <cp:lastModifiedBy>Gentille Uwizeye</cp:lastModifiedBy>
  <cp:revision>2</cp:revision>
  <dcterms:created xsi:type="dcterms:W3CDTF">2026-02-20T15:18:07Z</dcterms:created>
  <dcterms:modified xsi:type="dcterms:W3CDTF">2026-02-20T17:01:46Z</dcterms:modified>
</cp:coreProperties>
</file>